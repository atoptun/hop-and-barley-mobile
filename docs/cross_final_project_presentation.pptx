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Outfit"/>
      <p:bold r:id="rId23"/>
    </p:embeddedFont>
    <p:embeddedFont>
      <p:font typeface="Outfit Medium"/>
      <p:regular r:id="rId24"/>
      <p:bold r:id="rId25"/>
    </p:embeddedFont>
    <p:embeddedFont>
      <p:font typeface="Outfit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OutfitMedium-regular.fntdata"/><Relationship Id="rId23" Type="http://schemas.openxmlformats.org/officeDocument/2006/relationships/font" Target="fonts/Outfi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SemiBold-regular.fntdata"/><Relationship Id="rId25" Type="http://schemas.openxmlformats.org/officeDocument/2006/relationships/font" Target="fonts/OutfitMedium-bold.fntdata"/><Relationship Id="rId27" Type="http://schemas.openxmlformats.org/officeDocument/2006/relationships/font" Target="fonts/Outfi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6e483b56dd9100b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56e483b56dd9100b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56e483b56dd9100b_2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56e483b56dd9100b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6e483b56dd9100b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56e483b56dd9100b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56e483b56dd9100b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56e483b56dd9100b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56e483b56dd9100b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56e483b56dd9100b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56e483b56dd9100b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56e483b56dd9100b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6e483b56dd9100b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56e483b56dd9100b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56e483b56dd9100b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56e483b56dd9100b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56e483b56dd9100b_2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56e483b56dd9100b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56e483b56dd9100b_2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56e483b56dd9100b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56e483b56dd9100b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56e483b56dd9100b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6e483b56dd9100b_23_0)">
  <p:cSld name="Generated (h56e483b56dd9100b_2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157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572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87125" y="228600"/>
            <a:ext cx="8686800" cy="4686300"/>
          </a:xfrm>
          <a:prstGeom prst="roundRect">
            <a:avLst>
              <a:gd fmla="val 1626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A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457200" y="1190625"/>
            <a:ext cx="4095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MOBILE APP ECOSYSTEM</a:t>
            </a:r>
            <a:endParaRPr b="1" sz="1100">
              <a:solidFill>
                <a:srgbClr val="B4530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uk" sz="4000">
                <a:solidFill>
                  <a:srgbClr val="1C1917"/>
                </a:solidFill>
                <a:latin typeface="Outfit"/>
                <a:ea typeface="Outfit"/>
                <a:cs typeface="Outfit"/>
                <a:sym typeface="Outfit"/>
              </a:rPr>
              <a:t>Hop &amp; Barley</a:t>
            </a:r>
            <a:endParaRPr b="1" sz="4000">
              <a:solidFill>
                <a:srgbClr val="1C191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uk" sz="2000">
                <a:solidFill>
                  <a:srgbClr val="D9770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 Complete Ecosystem for Craft Homebrewers</a:t>
            </a:r>
            <a:endParaRPr b="0" sz="2000">
              <a:solidFill>
                <a:srgbClr val="D97706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uk" sz="1300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An all-in-one mobile ecosystem connecting craft beer recipes directly with fresh brewing ingredient shopping.</a:t>
            </a:r>
            <a:endParaRPr b="0" sz="1300">
              <a:solidFill>
                <a:srgbClr val="D6D3D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457200" y="3667125"/>
            <a:ext cx="4095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PRESENTER</a:t>
            </a:r>
            <a:endParaRPr b="1" sz="1100">
              <a:solidFill>
                <a:srgbClr val="B4530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Andrii Toptun</a:t>
            </a:r>
            <a:endParaRPr b="0" sz="1500">
              <a:solidFill>
                <a:srgbClr val="1C19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uk" sz="1300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React Native / Mobile Developer</a:t>
            </a:r>
            <a:endParaRPr b="0" sz="1300">
              <a:solidFill>
                <a:srgbClr val="D6D3D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3450" y="1190625"/>
            <a:ext cx="3943200" cy="22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457200" y="409125"/>
            <a:ext cx="601200" cy="591000"/>
          </a:xfrm>
          <a:prstGeom prst="roundRect">
            <a:avLst>
              <a:gd fmla="val 16667" name="adj"/>
            </a:avLst>
          </a:prstGeom>
          <a:solidFill>
            <a:srgbClr val="31572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 title="fav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200" y="476025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  <p:pic>
        <p:nvPicPr>
          <p:cNvPr id="61" name="Google Shape;61;p14" title="recipe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69677">
            <a:off x="6865005" y="1653286"/>
            <a:ext cx="681215" cy="1451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7" name="Google Shape;67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3157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457200" y="4191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457200" y="4762500"/>
              <a:ext cx="2857500" cy="228600"/>
            </a:xfrm>
            <a:prstGeom prst="rect">
              <a:avLst/>
            </a:prstGeom>
            <a:solidFill>
              <a:srgbClr val="3157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uk" sz="1000">
                  <a:solidFill>
                    <a:srgbClr val="D6D3D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Hop &amp; Barley • React Native</a:t>
              </a:r>
              <a:endParaRPr/>
            </a:p>
          </p:txBody>
        </p:sp>
      </p:grpSp>
      <p:sp>
        <p:nvSpPr>
          <p:cNvPr id="70" name="Google Shape;70;p15"/>
          <p:cNvSpPr txBox="1"/>
          <p:nvPr/>
        </p:nvSpPr>
        <p:spPr>
          <a:xfrm>
            <a:off x="457200" y="552450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2405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Bridging the Gap Between Recipe Discovery &amp; Ingredient Procurement</a:t>
            </a:r>
            <a:endParaRPr b="1" i="0" sz="2405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457200" y="1409700"/>
            <a:ext cx="8229600" cy="3124200"/>
            <a:chOff x="0" y="0"/>
            <a:chExt cx="8229600" cy="3124200"/>
          </a:xfrm>
        </p:grpSpPr>
        <p:grpSp>
          <p:nvGrpSpPr>
            <p:cNvPr id="72" name="Google Shape;72;p15"/>
            <p:cNvGrpSpPr/>
            <p:nvPr/>
          </p:nvGrpSpPr>
          <p:grpSpPr>
            <a:xfrm>
              <a:off x="0" y="0"/>
              <a:ext cx="3962400" cy="3124200"/>
              <a:chOff x="0" y="0"/>
              <a:chExt cx="3962400" cy="3124200"/>
            </a:xfrm>
          </p:grpSpPr>
          <p:sp>
            <p:nvSpPr>
              <p:cNvPr id="73" name="Google Shape;73;p15"/>
              <p:cNvSpPr/>
              <p:nvPr/>
            </p:nvSpPr>
            <p:spPr>
              <a:xfrm>
                <a:off x="0" y="0"/>
                <a:ext cx="3962400" cy="3124200"/>
              </a:xfrm>
              <a:prstGeom prst="roundRect">
                <a:avLst>
                  <a:gd fmla="val 3658" name="adj"/>
                </a:avLst>
              </a:prstGeom>
              <a:solidFill>
                <a:srgbClr val="D6D3D1"/>
              </a:solidFill>
              <a:ln cap="flat" cmpd="sng" w="9525">
                <a:solidFill>
                  <a:srgbClr val="EAE5D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5"/>
              <p:cNvSpPr txBox="1"/>
              <p:nvPr/>
            </p:nvSpPr>
            <p:spPr>
              <a:xfrm>
                <a:off x="266700" y="266700"/>
                <a:ext cx="3429000" cy="2590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uk" sz="935">
                    <a:solidFill>
                      <a:srgbClr val="DC2626"/>
                    </a:solidFill>
                    <a:latin typeface="Inter"/>
                    <a:ea typeface="Inter"/>
                    <a:cs typeface="Inter"/>
                    <a:sym typeface="Inter"/>
                  </a:rPr>
                  <a:t>THE PROBLEM</a:t>
                </a:r>
                <a:endParaRPr b="1" i="0" sz="935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uk" sz="1700">
                    <a:solidFill>
                      <a:srgbClr val="1C1917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Fragmented Discovery &amp; Calculations</a:t>
                </a:r>
                <a:endParaRPr b="1" i="0" sz="935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uk" sz="1190">
                    <a:solidFill>
                      <a:srgbClr val="57534E"/>
                    </a:solidFill>
                    <a:latin typeface="Inter"/>
                    <a:ea typeface="Inter"/>
                    <a:cs typeface="Inter"/>
                    <a:sym typeface="Inter"/>
                  </a:rPr>
                  <a:t>The homebrewing market suffers from a strict disconnect between finding recipes on forums or calculators and purchasing ingredients across separate web shops.</a:t>
                </a:r>
                <a:endParaRPr b="1" i="0" sz="935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uk" sz="1190">
                    <a:solidFill>
                      <a:srgbClr val="57534E"/>
                    </a:solidFill>
                    <a:latin typeface="Inter"/>
                    <a:ea typeface="Inter"/>
                    <a:cs typeface="Inter"/>
                    <a:sym typeface="Inter"/>
                  </a:rPr>
                  <a:t>Beginners struggle to configure precise brewing parameters—such as </a:t>
                </a:r>
                <a:r>
                  <a:rPr b="0" i="0" lang="uk" sz="1190">
                    <a:solidFill>
                      <a:srgbClr val="1C19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attenuation</a:t>
                </a:r>
                <a:r>
                  <a:rPr b="0" i="0" lang="uk" sz="1190">
                    <a:solidFill>
                      <a:srgbClr val="57534E"/>
                    </a:solidFill>
                    <a:latin typeface="Inter"/>
                    <a:ea typeface="Inter"/>
                    <a:cs typeface="Inter"/>
                    <a:sym typeface="Inter"/>
                  </a:rPr>
                  <a:t>, </a:t>
                </a:r>
                <a:r>
                  <a:rPr b="0" i="0" lang="uk" sz="1190">
                    <a:solidFill>
                      <a:srgbClr val="1C19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IBU units</a:t>
                </a:r>
                <a:r>
                  <a:rPr b="0" i="0" lang="uk" sz="1190">
                    <a:solidFill>
                      <a:srgbClr val="57534E"/>
                    </a:solidFill>
                    <a:latin typeface="Inter"/>
                    <a:ea typeface="Inter"/>
                    <a:cs typeface="Inter"/>
                    <a:sym typeface="Inter"/>
                  </a:rPr>
                  <a:t>, and </a:t>
                </a:r>
                <a:r>
                  <a:rPr b="0" i="0" lang="uk" sz="1190">
                    <a:solidFill>
                      <a:srgbClr val="1C19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yeast pitching rates</a:t>
                </a:r>
                <a:r>
                  <a:rPr b="0" i="0" lang="uk" sz="1190">
                    <a:solidFill>
                      <a:srgbClr val="57534E"/>
                    </a:solidFill>
                    <a:latin typeface="Inter"/>
                    <a:ea typeface="Inter"/>
                    <a:cs typeface="Inter"/>
                    <a:sym typeface="Inter"/>
                  </a:rPr>
                  <a:t>—without unified guidance.</a:t>
                </a:r>
                <a:endParaRPr b="1" i="0" sz="935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5" name="Google Shape;75;p15"/>
            <p:cNvGrpSpPr/>
            <p:nvPr/>
          </p:nvGrpSpPr>
          <p:grpSpPr>
            <a:xfrm>
              <a:off x="4267200" y="0"/>
              <a:ext cx="3962400" cy="3124200"/>
              <a:chOff x="0" y="0"/>
              <a:chExt cx="3962400" cy="3124200"/>
            </a:xfrm>
          </p:grpSpPr>
          <p:sp>
            <p:nvSpPr>
              <p:cNvPr id="76" name="Google Shape;76;p15"/>
              <p:cNvSpPr/>
              <p:nvPr/>
            </p:nvSpPr>
            <p:spPr>
              <a:xfrm>
                <a:off x="0" y="0"/>
                <a:ext cx="3962400" cy="3124200"/>
              </a:xfrm>
              <a:prstGeom prst="roundRect">
                <a:avLst>
                  <a:gd fmla="val 3658" name="adj"/>
                </a:avLst>
              </a:prstGeom>
              <a:solidFill>
                <a:srgbClr val="1C19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5"/>
              <p:cNvSpPr txBox="1"/>
              <p:nvPr/>
            </p:nvSpPr>
            <p:spPr>
              <a:xfrm>
                <a:off x="266700" y="266700"/>
                <a:ext cx="3429000" cy="2590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uk" sz="935">
                    <a:solidFill>
                      <a:srgbClr val="F59E0B"/>
                    </a:solidFill>
                    <a:latin typeface="Inter"/>
                    <a:ea typeface="Inter"/>
                    <a:cs typeface="Inter"/>
                    <a:sym typeface="Inter"/>
                  </a:rPr>
                  <a:t>THE SOLUTION</a:t>
                </a:r>
                <a:endParaRPr b="1" i="0" sz="935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uk" sz="1700">
                    <a:solidFill>
                      <a:srgbClr val="FFFFFF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Unified Mobile Exploration &amp; Checkout</a:t>
                </a:r>
                <a:endParaRPr b="1" i="0" sz="935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uk" sz="1190">
                    <a:solidFill>
                      <a:srgbClr val="F59E0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Hop &amp; Barley</a:t>
                </a:r>
                <a:r>
                  <a:rPr b="0" i="0" lang="uk" sz="1190">
                    <a:solidFill>
                      <a:srgbClr val="EAE5DF"/>
                    </a:solidFill>
                    <a:latin typeface="Inter"/>
                    <a:ea typeface="Inter"/>
                    <a:cs typeface="Inter"/>
                    <a:sym typeface="Inter"/>
                  </a:rPr>
                  <a:t> delivers a cohesive mobile platform that seamlessly bridges recipe exploration with instant ingredient checkout.</a:t>
                </a:r>
                <a:endParaRPr b="1" i="0" sz="935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uk" sz="1190">
                    <a:solidFill>
                      <a:srgbClr val="EAE5DF"/>
                    </a:solidFill>
                    <a:latin typeface="Inter"/>
                    <a:ea typeface="Inter"/>
                    <a:cs typeface="Inter"/>
                    <a:sym typeface="Inter"/>
                  </a:rPr>
                  <a:t>By automating complex calculations and streamlining procurement into a single tap, it simplifies the entire brewing process for users of all skill levels.</a:t>
                </a:r>
                <a:endParaRPr b="1" i="0" sz="935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3" name="Google Shape;83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3157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4572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16"/>
          <p:cNvSpPr txBox="1"/>
          <p:nvPr/>
        </p:nvSpPr>
        <p:spPr>
          <a:xfrm>
            <a:off x="457200" y="571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2210" u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Delivering a Comprehensive E-Commerce and Recipe Platform</a:t>
            </a:r>
            <a:endParaRPr b="1" i="0" sz="2210" u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86" name="Google Shape;86;p16"/>
          <p:cNvGrpSpPr/>
          <p:nvPr/>
        </p:nvGrpSpPr>
        <p:grpSpPr>
          <a:xfrm>
            <a:off x="457200" y="1238250"/>
            <a:ext cx="3962400" cy="1524000"/>
            <a:chOff x="0" y="0"/>
            <a:chExt cx="3962400" cy="1524000"/>
          </a:xfrm>
        </p:grpSpPr>
        <p:sp>
          <p:nvSpPr>
            <p:cNvPr id="87" name="Google Shape;87;p16"/>
            <p:cNvSpPr/>
            <p:nvPr/>
          </p:nvSpPr>
          <p:spPr>
            <a:xfrm>
              <a:off x="0" y="0"/>
              <a:ext cx="3962400" cy="1524000"/>
            </a:xfrm>
            <a:prstGeom prst="roundRect">
              <a:avLst>
                <a:gd fmla="val 5000" name="adj"/>
              </a:avLst>
            </a:prstGeom>
            <a:solidFill>
              <a:srgbClr val="D6D3D1"/>
            </a:solidFill>
            <a:ln cap="flat" cmpd="sng" w="9525">
              <a:solidFill>
                <a:srgbClr val="31572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228600" y="190500"/>
              <a:ext cx="3505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SECURITY &amp; ACCESS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uk" sz="1600">
                  <a:solidFill>
                    <a:srgbClr val="1C1917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Auth &amp; Security</a:t>
              </a:r>
              <a:endParaRPr b="0" sz="1600">
                <a:solidFill>
                  <a:srgbClr val="1C1917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uk" sz="110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Full registration flow featuring 4-digit OTP verification with a timer, password reset, and guest browsing capabilities.</a:t>
              </a:r>
              <a:endParaRPr b="0" sz="11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4724400" y="1238250"/>
            <a:ext cx="3962400" cy="1524000"/>
            <a:chOff x="0" y="0"/>
            <a:chExt cx="3962400" cy="1524000"/>
          </a:xfrm>
        </p:grpSpPr>
        <p:sp>
          <p:nvSpPr>
            <p:cNvPr id="90" name="Google Shape;90;p16"/>
            <p:cNvSpPr/>
            <p:nvPr/>
          </p:nvSpPr>
          <p:spPr>
            <a:xfrm>
              <a:off x="0" y="0"/>
              <a:ext cx="3962400" cy="1524000"/>
            </a:xfrm>
            <a:prstGeom prst="roundRect">
              <a:avLst>
                <a:gd fmla="val 5000" name="adj"/>
              </a:avLst>
            </a:prstGeom>
            <a:solidFill>
              <a:srgbClr val="D6D3D1"/>
            </a:solidFill>
            <a:ln cap="flat" cmpd="sng" w="9525">
              <a:solidFill>
                <a:srgbClr val="D6D3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228600" y="190500"/>
              <a:ext cx="3505200" cy="1143000"/>
            </a:xfrm>
            <a:prstGeom prst="rect">
              <a:avLst/>
            </a:prstGeom>
            <a:solidFill>
              <a:srgbClr val="D6D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INVENTORY &amp; SEARCH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uk" sz="1600">
                  <a:solidFill>
                    <a:srgbClr val="1C1917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Store Catalog</a:t>
              </a:r>
              <a:endParaRPr b="0" sz="1600">
                <a:solidFill>
                  <a:srgbClr val="1C1917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uk" sz="110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Live search with multi-category filters for Yeast, Hops, Malts, and Adjuncts, alongside 5 distinct sorting modes.</a:t>
              </a:r>
              <a:endParaRPr b="0" sz="11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>
            <a:off x="457200" y="2952750"/>
            <a:ext cx="3962400" cy="1524000"/>
            <a:chOff x="0" y="0"/>
            <a:chExt cx="3962400" cy="1524000"/>
          </a:xfrm>
        </p:grpSpPr>
        <p:sp>
          <p:nvSpPr>
            <p:cNvPr id="93" name="Google Shape;93;p16"/>
            <p:cNvSpPr/>
            <p:nvPr/>
          </p:nvSpPr>
          <p:spPr>
            <a:xfrm>
              <a:off x="0" y="0"/>
              <a:ext cx="3962400" cy="1524000"/>
            </a:xfrm>
            <a:prstGeom prst="roundRect">
              <a:avLst>
                <a:gd fmla="val 5000" name="adj"/>
              </a:avLst>
            </a:prstGeom>
            <a:solidFill>
              <a:srgbClr val="D6D3D1"/>
            </a:solidFill>
            <a:ln cap="flat" cmpd="sng" w="9525">
              <a:solidFill>
                <a:srgbClr val="D6D3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228600" y="190500"/>
              <a:ext cx="3505200" cy="1143000"/>
            </a:xfrm>
            <a:prstGeom prst="rect">
              <a:avLst/>
            </a:prstGeom>
            <a:solidFill>
              <a:srgbClr val="D6D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BREWING GUIDES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uk" sz="1600">
                  <a:solidFill>
                    <a:srgbClr val="1C1917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Recipe Library</a:t>
              </a:r>
              <a:endParaRPr b="0" sz="1600">
                <a:solidFill>
                  <a:srgbClr val="1C1917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uk" sz="110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Categorized by Easy, Medium, and Hard difficulty levels with ABV/IBU badges and step-by-step mashing, boiling, and fermentation guides.</a:t>
              </a:r>
              <a:endParaRPr b="0" sz="11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4724400" y="2952750"/>
            <a:ext cx="3962400" cy="1524000"/>
            <a:chOff x="0" y="0"/>
            <a:chExt cx="3962400" cy="15240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3962400" cy="1524000"/>
            </a:xfrm>
            <a:prstGeom prst="roundRect">
              <a:avLst>
                <a:gd fmla="val 5000" name="adj"/>
              </a:avLst>
            </a:prstGeom>
            <a:solidFill>
              <a:srgbClr val="D6D3D1"/>
            </a:solidFill>
            <a:ln cap="flat" cmpd="sng" w="9525">
              <a:solidFill>
                <a:srgbClr val="D6D3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228600" y="190500"/>
              <a:ext cx="3505200" cy="1143000"/>
            </a:xfrm>
            <a:prstGeom prst="rect">
              <a:avLst/>
            </a:prstGeom>
            <a:solidFill>
              <a:srgbClr val="D6D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PURCHASING FLOW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uk" sz="1600">
                  <a:solidFill>
                    <a:srgbClr val="1C1917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Cart &amp; Checkout</a:t>
              </a:r>
              <a:endParaRPr b="0" sz="1600">
                <a:solidFill>
                  <a:srgbClr val="1C1917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uk" sz="110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Dynamic item counter, instant toast feedback, and comprehensive checkout order summaries.</a:t>
              </a:r>
              <a:endParaRPr b="0" sz="11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457200" y="4724400"/>
            <a:ext cx="2857500" cy="228600"/>
            <a:chOff x="0" y="0"/>
            <a:chExt cx="2857500" cy="228600"/>
          </a:xfrm>
        </p:grpSpPr>
        <p:sp>
          <p:nvSpPr>
            <p:cNvPr id="99" name="Google Shape;99;p16"/>
            <p:cNvSpPr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uk" sz="1000">
                  <a:solidFill>
                    <a:srgbClr val="D6D3D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Hop &amp; Barley • React Native</a:t>
              </a:r>
              <a:endParaRPr b="0" i="0" sz="1000">
                <a:solidFill>
                  <a:srgbClr val="D6D3D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7"/>
          <p:cNvGrpSpPr/>
          <p:nvPr/>
        </p:nvGrpSpPr>
        <p:grpSpPr>
          <a:xfrm>
            <a:off x="457200" y="1219200"/>
            <a:ext cx="4000500" cy="3314700"/>
            <a:chOff x="0" y="0"/>
            <a:chExt cx="4000500" cy="3314700"/>
          </a:xfrm>
        </p:grpSpPr>
        <p:sp>
          <p:nvSpPr>
            <p:cNvPr id="106" name="Google Shape;106;p17"/>
            <p:cNvSpPr/>
            <p:nvPr/>
          </p:nvSpPr>
          <p:spPr>
            <a:xfrm>
              <a:off x="0" y="0"/>
              <a:ext cx="4000500" cy="3314700"/>
            </a:xfrm>
            <a:prstGeom prst="roundRect">
              <a:avLst>
                <a:gd fmla="val 3448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228600" y="209550"/>
              <a:ext cx="35433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SECURITY &amp; ACCESS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uk" sz="1800">
                  <a:solidFill>
                    <a:srgbClr val="1C1917"/>
                  </a:solidFill>
                  <a:latin typeface="Outfit"/>
                  <a:ea typeface="Outfit"/>
                  <a:cs typeface="Outfit"/>
                  <a:sym typeface="Outfit"/>
                </a:rPr>
                <a:t>Auth &amp; Security</a:t>
              </a:r>
              <a:endParaRPr b="1" sz="1800">
                <a:solidFill>
                  <a:srgbClr val="1C1917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uk" sz="110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Full registration flow featuring 4-digit OTP verification with a timer, password reset, and guest browsing capabilities.</a:t>
              </a:r>
              <a:endParaRPr b="0" sz="1100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400"/>
                </a:spcBef>
                <a:spcAft>
                  <a:spcPts val="0"/>
                </a:spcAft>
                <a:buClr>
                  <a:srgbClr val="1C1917"/>
                </a:buClr>
                <a:buSzPts val="1050"/>
                <a:buFont typeface="Inter"/>
                <a:buChar char="●"/>
              </a:pPr>
              <a:r>
                <a:rPr b="1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OTP Verification:</a:t>
              </a:r>
              <a:r>
                <a:rPr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4-digit code with live countdown timer</a:t>
              </a:r>
              <a:endParaRPr sz="105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1C1917"/>
                </a:buClr>
                <a:buSzPts val="1050"/>
                <a:buFont typeface="Inter"/>
                <a:buChar char="●"/>
              </a:pPr>
              <a:r>
                <a:rPr b="1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Password Recovery:</a:t>
              </a:r>
              <a:r>
                <a:rPr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Automated reset via secure email flow</a:t>
              </a:r>
              <a:endParaRPr sz="105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1C1917"/>
                </a:buClr>
                <a:buSzPts val="1050"/>
                <a:buFont typeface="Inter"/>
                <a:buChar char="●"/>
              </a:pPr>
              <a:r>
                <a:rPr b="1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Guest Mode:</a:t>
              </a:r>
              <a:r>
                <a:rPr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Browse store catalog without forced signup</a:t>
              </a:r>
              <a:endParaRPr sz="105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1C1917"/>
                </a:buClr>
                <a:buSzPts val="1050"/>
                <a:buFont typeface="Inter"/>
                <a:buChar char="●"/>
              </a:pPr>
              <a:r>
                <a:rPr b="1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Session State:</a:t>
              </a:r>
              <a:r>
                <a:rPr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Encrypted token storage via AsyncStorage</a:t>
              </a:r>
              <a:endParaRPr sz="105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300" y="666750"/>
            <a:ext cx="1811700" cy="38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666750"/>
            <a:ext cx="1812000" cy="38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457200" y="4572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457200" y="571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21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SECURITY &amp; ACCESS</a:t>
            </a:r>
            <a:endParaRPr b="1" i="0" sz="2210" u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57200" y="47244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" sz="1000">
                <a:solidFill>
                  <a:srgbClr val="D6D3D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Hop &amp; Barley • React Native</a:t>
            </a:r>
            <a:endParaRPr b="0" sz="1000">
              <a:solidFill>
                <a:srgbClr val="D6D3D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8"/>
          <p:cNvGrpSpPr/>
          <p:nvPr/>
        </p:nvGrpSpPr>
        <p:grpSpPr>
          <a:xfrm>
            <a:off x="457200" y="1219200"/>
            <a:ext cx="4000500" cy="3314700"/>
            <a:chOff x="0" y="0"/>
            <a:chExt cx="4000500" cy="3314700"/>
          </a:xfrm>
        </p:grpSpPr>
        <p:sp>
          <p:nvSpPr>
            <p:cNvPr id="118" name="Google Shape;118;p18"/>
            <p:cNvSpPr/>
            <p:nvPr/>
          </p:nvSpPr>
          <p:spPr>
            <a:xfrm>
              <a:off x="0" y="0"/>
              <a:ext cx="4000500" cy="3314700"/>
            </a:xfrm>
            <a:prstGeom prst="roundRect">
              <a:avLst>
                <a:gd fmla="val 3448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 txBox="1"/>
            <p:nvPr/>
          </p:nvSpPr>
          <p:spPr>
            <a:xfrm>
              <a:off x="228600" y="209550"/>
              <a:ext cx="35433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INVENTORY &amp; SEARCH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uk" sz="1800">
                  <a:solidFill>
                    <a:srgbClr val="1C1917"/>
                  </a:solidFill>
                  <a:latin typeface="Outfit"/>
                  <a:ea typeface="Outfit"/>
                  <a:cs typeface="Outfit"/>
                  <a:sym typeface="Outfit"/>
                </a:rPr>
                <a:t>Store Catalog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uk" sz="110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Live search with multi-category filters for Yeast, Hops, Malts, and Adjuncts, alongside 5 distinct sorting modes.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14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Multi-Category Filters:</a:t>
              </a: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Quick filtering for Yeast, Hops, Malts, and Adjuncts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5 Sorting Modes:</a:t>
              </a: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Sort by Name (A-Z / Z-A), Price, or Rating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Live Search:</a:t>
              </a: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Instant query matching across entire store catalog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Quick Add:</a:t>
              </a:r>
              <a:r>
                <a:rPr b="1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One-tap add to cart directly from item list</a:t>
              </a:r>
              <a:endParaRPr b="1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0" name="Google Shape;120;p18"/>
          <p:cNvSpPr/>
          <p:nvPr/>
        </p:nvSpPr>
        <p:spPr>
          <a:xfrm>
            <a:off x="457200" y="4572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457200" y="571500"/>
            <a:ext cx="396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21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INVENTORY &amp; SEARCH</a:t>
            </a:r>
            <a:endParaRPr b="1" i="0" sz="2210" u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4686300" y="666750"/>
            <a:ext cx="1811700" cy="38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6781800" y="666750"/>
            <a:ext cx="1811700" cy="38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457200" y="47244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" sz="1000">
                <a:solidFill>
                  <a:srgbClr val="D6D3D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Hop &amp; Barley • React Native</a:t>
            </a:r>
            <a:endParaRPr b="0" sz="1000">
              <a:solidFill>
                <a:srgbClr val="D6D3D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9"/>
          <p:cNvGrpSpPr/>
          <p:nvPr/>
        </p:nvGrpSpPr>
        <p:grpSpPr>
          <a:xfrm>
            <a:off x="457200" y="1219200"/>
            <a:ext cx="4000500" cy="3314700"/>
            <a:chOff x="0" y="0"/>
            <a:chExt cx="4000500" cy="3314700"/>
          </a:xfrm>
        </p:grpSpPr>
        <p:sp>
          <p:nvSpPr>
            <p:cNvPr id="130" name="Google Shape;130;p19"/>
            <p:cNvSpPr/>
            <p:nvPr/>
          </p:nvSpPr>
          <p:spPr>
            <a:xfrm>
              <a:off x="0" y="0"/>
              <a:ext cx="4000500" cy="3314700"/>
            </a:xfrm>
            <a:prstGeom prst="roundRect">
              <a:avLst>
                <a:gd fmla="val 3447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 txBox="1"/>
            <p:nvPr/>
          </p:nvSpPr>
          <p:spPr>
            <a:xfrm>
              <a:off x="228600" y="209550"/>
              <a:ext cx="3543300" cy="2895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BREWING GUIDES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0" lang="uk" sz="1800">
                  <a:solidFill>
                    <a:srgbClr val="1C1917"/>
                  </a:solidFill>
                  <a:latin typeface="Outfit"/>
                  <a:ea typeface="Outfit"/>
                  <a:cs typeface="Outfit"/>
                  <a:sym typeface="Outfit"/>
                </a:rPr>
                <a:t>Recipe Library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uk" sz="110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Categorized by Easy, Medium, and Hard difficulty levels with ABV/IBU badges and step-by-step mashing, boiling, and fermentation guides.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14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i="0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Difficulty Levels:</a:t>
              </a: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Categorized into Easy, Medium, and Hard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i="0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Vital Stats Badges:</a:t>
              </a: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Instant visibility for ABV, IBU, and style tags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i="0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Step-by-Step Guides:</a:t>
              </a: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Detailed mashing, boiling, and fermentation instructions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i="0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Sorting &amp; Search:</a:t>
              </a: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Quick filtering by rating, A-Z, or complexity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2" name="Google Shape;132;p19"/>
          <p:cNvSpPr/>
          <p:nvPr/>
        </p:nvSpPr>
        <p:spPr>
          <a:xfrm>
            <a:off x="457200" y="4572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457200" y="571500"/>
            <a:ext cx="396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21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BREWING GUIDES</a:t>
            </a:r>
            <a:endParaRPr b="1" i="0" sz="2210" u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4686300" y="666750"/>
            <a:ext cx="1812000" cy="38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6781800" y="666750"/>
            <a:ext cx="1812000" cy="38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457200" y="47244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uk" sz="1000">
                <a:solidFill>
                  <a:srgbClr val="D6D3D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Hop &amp; Barley • React Native</a:t>
            </a:r>
            <a:endParaRPr b="0" i="0" sz="1000">
              <a:solidFill>
                <a:srgbClr val="D6D3D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20"/>
          <p:cNvGrpSpPr/>
          <p:nvPr/>
        </p:nvGrpSpPr>
        <p:grpSpPr>
          <a:xfrm>
            <a:off x="453075" y="1211025"/>
            <a:ext cx="4000500" cy="3314700"/>
            <a:chOff x="0" y="0"/>
            <a:chExt cx="4000500" cy="3314700"/>
          </a:xfrm>
        </p:grpSpPr>
        <p:sp>
          <p:nvSpPr>
            <p:cNvPr id="142" name="Google Shape;142;p20"/>
            <p:cNvSpPr/>
            <p:nvPr/>
          </p:nvSpPr>
          <p:spPr>
            <a:xfrm>
              <a:off x="0" y="0"/>
              <a:ext cx="4000500" cy="3314700"/>
            </a:xfrm>
            <a:prstGeom prst="roundRect">
              <a:avLst>
                <a:gd fmla="val 3448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 txBox="1"/>
            <p:nvPr/>
          </p:nvSpPr>
          <p:spPr>
            <a:xfrm>
              <a:off x="228600" y="209550"/>
              <a:ext cx="3543300" cy="2895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PURCHASING FLOW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0" lang="uk" sz="1800">
                  <a:solidFill>
                    <a:srgbClr val="1C1917"/>
                  </a:solidFill>
                  <a:latin typeface="Outfit"/>
                  <a:ea typeface="Outfit"/>
                  <a:cs typeface="Outfit"/>
                  <a:sym typeface="Outfit"/>
                </a:rPr>
                <a:t>Cart &amp; Checkout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uk" sz="110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Dynamic item counter, instant toast feedback, and comprehensive checkout order summaries.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14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i="0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Dynamic Item Counter:</a:t>
              </a: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Real-time price recalculation and quantity controls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i="0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Instant Toast Feedback:</a:t>
              </a: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Immediate status updates on cart changes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i="0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Order Summaries:</a:t>
              </a: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Detailed itemized list with subtotal and total breakdown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1000"/>
                <a:buFont typeface="Inter"/>
                <a:buChar char="●"/>
              </a:pPr>
              <a:r>
                <a:rPr b="1" i="0" lang="uk" sz="1050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Seamless Checkout:</a:t>
              </a:r>
              <a:r>
                <a:rPr b="1" i="0" lang="uk" sz="10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uk" sz="105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One-tap transition to final order placement</a:t>
              </a:r>
              <a:endParaRPr b="1" i="0" sz="10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4" name="Google Shape;144;p20"/>
          <p:cNvSpPr/>
          <p:nvPr/>
        </p:nvSpPr>
        <p:spPr>
          <a:xfrm>
            <a:off x="457200" y="4572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457200" y="571500"/>
            <a:ext cx="396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21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PURCHASING FLOW</a:t>
            </a:r>
            <a:endParaRPr b="1" sz="221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1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152400"/>
            <a:ext cx="22716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457200" y="47244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uk" sz="1000">
                <a:solidFill>
                  <a:srgbClr val="D6D3D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Hop &amp; Barley • React Native</a:t>
            </a:r>
            <a:endParaRPr b="0" i="0" sz="1000">
              <a:solidFill>
                <a:srgbClr val="D6D3D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/>
          <p:nvPr/>
        </p:nvSpPr>
        <p:spPr>
          <a:xfrm>
            <a:off x="457200" y="4191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457200" y="552450"/>
            <a:ext cx="4000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READY-TO-BREW KITS</a:t>
            </a:r>
            <a:endParaRPr b="1" sz="2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54" name="Google Shape;154;p21"/>
          <p:cNvGrpSpPr/>
          <p:nvPr/>
        </p:nvGrpSpPr>
        <p:grpSpPr>
          <a:xfrm>
            <a:off x="457200" y="1181100"/>
            <a:ext cx="4000500" cy="3352800"/>
            <a:chOff x="0" y="0"/>
            <a:chExt cx="4000500" cy="3352800"/>
          </a:xfrm>
        </p:grpSpPr>
        <p:sp>
          <p:nvSpPr>
            <p:cNvPr id="155" name="Google Shape;155;p21"/>
            <p:cNvSpPr/>
            <p:nvPr/>
          </p:nvSpPr>
          <p:spPr>
            <a:xfrm>
              <a:off x="0" y="0"/>
              <a:ext cx="4000500" cy="3352800"/>
            </a:xfrm>
            <a:prstGeom prst="roundRect">
              <a:avLst>
                <a:gd fmla="val 3409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1"/>
            <p:cNvSpPr txBox="1"/>
            <p:nvPr/>
          </p:nvSpPr>
          <p:spPr>
            <a:xfrm>
              <a:off x="228600" y="190500"/>
              <a:ext cx="3543300" cy="2971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925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1-CLICK CONVERSION</a:t>
              </a:r>
              <a:endParaRPr b="1" sz="925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uk" sz="1665">
                  <a:solidFill>
                    <a:srgbClr val="1C1917"/>
                  </a:solidFill>
                  <a:latin typeface="Outfit"/>
                  <a:ea typeface="Outfit"/>
                  <a:cs typeface="Outfit"/>
                  <a:sym typeface="Outfit"/>
                </a:rPr>
                <a:t>Recipe Kits &amp; Technical Specs</a:t>
              </a:r>
              <a:endParaRPr b="1" sz="925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uk" sz="1018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Seamlessly converting custom and catalog recipes directly into ready-to-brew ingredient kits with deep technical specs.</a:t>
              </a:r>
              <a:endParaRPr b="1" sz="925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B45309"/>
                </a:buClr>
                <a:buSzPts val="925"/>
                <a:buFont typeface="Inter"/>
                <a:buChar char="●"/>
              </a:pPr>
              <a:r>
                <a:rPr b="1" lang="uk" sz="971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1-Click Recipe Kits:</a:t>
              </a:r>
              <a:r>
                <a:rPr b="1" lang="uk" sz="925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uk" sz="971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Pushes all ingredients (malts, hops, yeast) directly into the cart with a single tap.</a:t>
              </a:r>
              <a:endParaRPr b="1" sz="925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925"/>
                <a:buFont typeface="Inter"/>
                <a:buChar char="●"/>
              </a:pPr>
              <a:r>
                <a:rPr b="1" lang="uk" sz="971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Deep Technical Specs:</a:t>
              </a:r>
              <a:r>
                <a:rPr b="1" lang="uk" sz="925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uk" sz="971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Detailed sheets detailing flocculation, attenuation, temp ranges, and alpha acids.</a:t>
              </a:r>
              <a:endParaRPr b="1" sz="925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925"/>
                <a:buFont typeface="Inter"/>
                <a:buChar char="●"/>
              </a:pPr>
              <a:r>
                <a:rPr b="1" lang="uk" sz="971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Automated Quantities:</a:t>
              </a:r>
              <a:r>
                <a:rPr b="1" lang="uk" sz="925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uk" sz="971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Exact weight scaling per batch size requirements.</a:t>
              </a:r>
              <a:endParaRPr b="1" sz="925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B45309"/>
                </a:buClr>
                <a:buSzPts val="925"/>
                <a:buFont typeface="Inter"/>
                <a:buChar char="●"/>
              </a:pPr>
              <a:r>
                <a:rPr b="1" lang="uk" sz="971">
                  <a:solidFill>
                    <a:srgbClr val="1C1917"/>
                  </a:solidFill>
                  <a:latin typeface="Inter"/>
                  <a:ea typeface="Inter"/>
                  <a:cs typeface="Inter"/>
                  <a:sym typeface="Inter"/>
                </a:rPr>
                <a:t>Instant Checkout Sync:</a:t>
              </a:r>
              <a:r>
                <a:rPr b="1" lang="uk" sz="925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uk" sz="971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Directly connected to inventory and cart workflows.</a:t>
              </a:r>
              <a:endParaRPr b="1" sz="925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7" name="Google Shape;157;p21"/>
          <p:cNvGrpSpPr/>
          <p:nvPr/>
        </p:nvGrpSpPr>
        <p:grpSpPr>
          <a:xfrm>
            <a:off x="4686300" y="571500"/>
            <a:ext cx="1905000" cy="4057800"/>
            <a:chOff x="0" y="0"/>
            <a:chExt cx="1905000" cy="4057800"/>
          </a:xfrm>
        </p:grpSpPr>
        <p:sp>
          <p:nvSpPr>
            <p:cNvPr id="158" name="Google Shape;158;p21"/>
            <p:cNvSpPr/>
            <p:nvPr/>
          </p:nvSpPr>
          <p:spPr>
            <a:xfrm>
              <a:off x="0" y="0"/>
              <a:ext cx="1905000" cy="4057800"/>
            </a:xfrm>
            <a:prstGeom prst="roundRect">
              <a:avLst>
                <a:gd fmla="val 8000" name="adj"/>
              </a:avLst>
            </a:prstGeom>
            <a:solidFill>
              <a:srgbClr val="1C19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" name="Google Shape;159;p21"/>
            <p:cNvPicPr preferRelativeResize="0"/>
            <p:nvPr/>
          </p:nvPicPr>
          <p:blipFill rotWithShape="1">
            <a:blip r:embed="rId4">
              <a:alphaModFix/>
            </a:blip>
            <a:srcRect b="0" l="0" r="0" t="10"/>
            <a:stretch/>
          </p:blipFill>
          <p:spPr>
            <a:xfrm>
              <a:off x="0" y="0"/>
              <a:ext cx="1905000" cy="40578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</p:grpSp>
      <p:sp>
        <p:nvSpPr>
          <p:cNvPr id="160" name="Google Shape;160;p21"/>
          <p:cNvSpPr txBox="1"/>
          <p:nvPr/>
        </p:nvSpPr>
        <p:spPr>
          <a:xfrm>
            <a:off x="457200" y="47244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" sz="1000">
                <a:solidFill>
                  <a:srgbClr val="D6D3D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Hop &amp; Barley • React Native</a:t>
            </a:r>
            <a:endParaRPr b="0" sz="1000">
              <a:solidFill>
                <a:srgbClr val="D6D3D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1" name="Google Shape;161;p21" title="product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9900" y="552450"/>
            <a:ext cx="1905000" cy="405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457200" y="3810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457200" y="47815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uk" sz="1000">
                <a:solidFill>
                  <a:srgbClr val="D6D3D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Hop &amp; Barley • React Native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457200" y="495300"/>
            <a:ext cx="8229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2600" u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Built with Modern React Native and Expo Technologies</a:t>
            </a:r>
            <a:endParaRPr b="1" i="0" sz="2600" u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69" name="Google Shape;169;p22"/>
          <p:cNvGrpSpPr/>
          <p:nvPr/>
        </p:nvGrpSpPr>
        <p:grpSpPr>
          <a:xfrm>
            <a:off x="457200" y="1085850"/>
            <a:ext cx="8229600" cy="419100"/>
            <a:chOff x="457200" y="0"/>
            <a:chExt cx="8229600" cy="419100"/>
          </a:xfrm>
        </p:grpSpPr>
        <p:grpSp>
          <p:nvGrpSpPr>
            <p:cNvPr id="170" name="Google Shape;170;p22"/>
            <p:cNvGrpSpPr/>
            <p:nvPr/>
          </p:nvGrpSpPr>
          <p:grpSpPr>
            <a:xfrm>
              <a:off x="457200" y="0"/>
              <a:ext cx="1714500" cy="419100"/>
              <a:chOff x="0" y="0"/>
              <a:chExt cx="1714500" cy="419100"/>
            </a:xfrm>
          </p:grpSpPr>
          <p:sp>
            <p:nvSpPr>
              <p:cNvPr id="171" name="Google Shape;171;p22"/>
              <p:cNvSpPr/>
              <p:nvPr/>
            </p:nvSpPr>
            <p:spPr>
              <a:xfrm>
                <a:off x="0" y="0"/>
                <a:ext cx="1714500" cy="419100"/>
              </a:xfrm>
              <a:prstGeom prst="roundRect">
                <a:avLst>
                  <a:gd fmla="val 50000" name="adj"/>
                </a:avLst>
              </a:prstGeom>
              <a:solidFill>
                <a:srgbClr val="D6D3D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2"/>
              <p:cNvSpPr txBox="1"/>
              <p:nvPr/>
            </p:nvSpPr>
            <p:spPr>
              <a:xfrm>
                <a:off x="0" y="0"/>
                <a:ext cx="1714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1300">
                    <a:solidFill>
                      <a:srgbClr val="1C19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React Native</a:t>
                </a:r>
                <a:endParaRPr b="0" sz="1300">
                  <a:solidFill>
                    <a:srgbClr val="1C191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73" name="Google Shape;173;p22"/>
            <p:cNvGrpSpPr/>
            <p:nvPr/>
          </p:nvGrpSpPr>
          <p:grpSpPr>
            <a:xfrm>
              <a:off x="2628900" y="0"/>
              <a:ext cx="1714500" cy="419100"/>
              <a:chOff x="0" y="0"/>
              <a:chExt cx="1714500" cy="419100"/>
            </a:xfrm>
          </p:grpSpPr>
          <p:sp>
            <p:nvSpPr>
              <p:cNvPr id="174" name="Google Shape;174;p22"/>
              <p:cNvSpPr/>
              <p:nvPr/>
            </p:nvSpPr>
            <p:spPr>
              <a:xfrm>
                <a:off x="0" y="0"/>
                <a:ext cx="1714500" cy="419100"/>
              </a:xfrm>
              <a:prstGeom prst="roundRect">
                <a:avLst>
                  <a:gd fmla="val 50000" name="adj"/>
                </a:avLst>
              </a:prstGeom>
              <a:solidFill>
                <a:srgbClr val="D6D3D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22"/>
              <p:cNvSpPr txBox="1"/>
              <p:nvPr/>
            </p:nvSpPr>
            <p:spPr>
              <a:xfrm>
                <a:off x="0" y="0"/>
                <a:ext cx="1714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1300">
                    <a:solidFill>
                      <a:srgbClr val="1C19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Expo</a:t>
                </a:r>
                <a:endParaRPr b="0" sz="1300">
                  <a:solidFill>
                    <a:srgbClr val="1C191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76" name="Google Shape;176;p22"/>
            <p:cNvGrpSpPr/>
            <p:nvPr/>
          </p:nvGrpSpPr>
          <p:grpSpPr>
            <a:xfrm>
              <a:off x="4800600" y="0"/>
              <a:ext cx="1714500" cy="419100"/>
              <a:chOff x="0" y="0"/>
              <a:chExt cx="1714500" cy="419100"/>
            </a:xfrm>
          </p:grpSpPr>
          <p:sp>
            <p:nvSpPr>
              <p:cNvPr id="177" name="Google Shape;177;p22"/>
              <p:cNvSpPr/>
              <p:nvPr/>
            </p:nvSpPr>
            <p:spPr>
              <a:xfrm>
                <a:off x="0" y="0"/>
                <a:ext cx="1714500" cy="419100"/>
              </a:xfrm>
              <a:prstGeom prst="roundRect">
                <a:avLst>
                  <a:gd fmla="val 50000" name="adj"/>
                </a:avLst>
              </a:prstGeom>
              <a:solidFill>
                <a:srgbClr val="D6D3D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22"/>
              <p:cNvSpPr txBox="1"/>
              <p:nvPr/>
            </p:nvSpPr>
            <p:spPr>
              <a:xfrm>
                <a:off x="0" y="0"/>
                <a:ext cx="1714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1300">
                    <a:solidFill>
                      <a:srgbClr val="1C19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React Navigation</a:t>
                </a:r>
                <a:endParaRPr b="0" sz="1300">
                  <a:solidFill>
                    <a:srgbClr val="1C191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79" name="Google Shape;179;p22"/>
            <p:cNvGrpSpPr/>
            <p:nvPr/>
          </p:nvGrpSpPr>
          <p:grpSpPr>
            <a:xfrm>
              <a:off x="6972300" y="0"/>
              <a:ext cx="1714500" cy="419100"/>
              <a:chOff x="0" y="0"/>
              <a:chExt cx="1714500" cy="419100"/>
            </a:xfrm>
          </p:grpSpPr>
          <p:sp>
            <p:nvSpPr>
              <p:cNvPr id="180" name="Google Shape;180;p22"/>
              <p:cNvSpPr/>
              <p:nvPr/>
            </p:nvSpPr>
            <p:spPr>
              <a:xfrm>
                <a:off x="0" y="0"/>
                <a:ext cx="1714500" cy="419100"/>
              </a:xfrm>
              <a:prstGeom prst="roundRect">
                <a:avLst>
                  <a:gd fmla="val 50000" name="adj"/>
                </a:avLst>
              </a:prstGeom>
              <a:solidFill>
                <a:srgbClr val="D6D3D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2"/>
              <p:cNvSpPr txBox="1"/>
              <p:nvPr/>
            </p:nvSpPr>
            <p:spPr>
              <a:xfrm>
                <a:off x="0" y="0"/>
                <a:ext cx="1714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1300">
                    <a:solidFill>
                      <a:srgbClr val="1C19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AsyncStorage</a:t>
                </a:r>
                <a:endParaRPr b="0" sz="1300">
                  <a:solidFill>
                    <a:srgbClr val="1C191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182" name="Google Shape;182;p22"/>
          <p:cNvGrpSpPr/>
          <p:nvPr/>
        </p:nvGrpSpPr>
        <p:grpSpPr>
          <a:xfrm>
            <a:off x="457200" y="1695450"/>
            <a:ext cx="3962400" cy="1352700"/>
            <a:chOff x="0" y="0"/>
            <a:chExt cx="3962400" cy="1352700"/>
          </a:xfrm>
        </p:grpSpPr>
        <p:sp>
          <p:nvSpPr>
            <p:cNvPr id="183" name="Google Shape;183;p22"/>
            <p:cNvSpPr/>
            <p:nvPr/>
          </p:nvSpPr>
          <p:spPr>
            <a:xfrm>
              <a:off x="0" y="0"/>
              <a:ext cx="3962400" cy="1352700"/>
            </a:xfrm>
            <a:prstGeom prst="roundRect">
              <a:avLst>
                <a:gd fmla="val 7041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0" y="0"/>
              <a:ext cx="57300" cy="13527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 txBox="1"/>
            <p:nvPr/>
          </p:nvSpPr>
          <p:spPr>
            <a:xfrm>
              <a:off x="228600" y="171450"/>
              <a:ext cx="3543300" cy="1009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018" u="none" strike="noStrike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Core Framework</a:t>
              </a:r>
              <a:endParaRPr b="1" i="0" sz="1018" u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uk" sz="1203" u="none" strike="noStrike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React Native framework robustly powered by Expo for unified cross-platform development and rapid deployments.</a:t>
              </a:r>
              <a:endParaRPr b="1" i="0" sz="1018" u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4724400" y="1695450"/>
            <a:ext cx="3962400" cy="1352700"/>
            <a:chOff x="0" y="0"/>
            <a:chExt cx="3962400" cy="1352700"/>
          </a:xfrm>
        </p:grpSpPr>
        <p:sp>
          <p:nvSpPr>
            <p:cNvPr id="187" name="Google Shape;187;p22"/>
            <p:cNvSpPr/>
            <p:nvPr/>
          </p:nvSpPr>
          <p:spPr>
            <a:xfrm>
              <a:off x="0" y="0"/>
              <a:ext cx="3962400" cy="1352700"/>
            </a:xfrm>
            <a:prstGeom prst="roundRect">
              <a:avLst>
                <a:gd fmla="val 7041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0" y="0"/>
              <a:ext cx="57300" cy="13527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 txBox="1"/>
            <p:nvPr/>
          </p:nvSpPr>
          <p:spPr>
            <a:xfrm>
              <a:off x="228600" y="171450"/>
              <a:ext cx="3543300" cy="1009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018" u="none" strike="noStrike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Navigation Architecture</a:t>
              </a:r>
              <a:endParaRPr b="1" i="0" sz="1018" u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uk" sz="1203" u="none" strike="noStrike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React Navigation utilizing Bottom Tabs for main screens, a Drawer for settings &amp; profiles, and a Stack for modals and auth flows.</a:t>
              </a:r>
              <a:endParaRPr b="1" i="0" sz="1018" u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0" name="Google Shape;190;p22"/>
          <p:cNvGrpSpPr/>
          <p:nvPr/>
        </p:nvGrpSpPr>
        <p:grpSpPr>
          <a:xfrm>
            <a:off x="457200" y="3200400"/>
            <a:ext cx="3962400" cy="1352700"/>
            <a:chOff x="0" y="0"/>
            <a:chExt cx="3962400" cy="1352700"/>
          </a:xfrm>
        </p:grpSpPr>
        <p:sp>
          <p:nvSpPr>
            <p:cNvPr id="191" name="Google Shape;191;p22"/>
            <p:cNvSpPr/>
            <p:nvPr/>
          </p:nvSpPr>
          <p:spPr>
            <a:xfrm>
              <a:off x="0" y="0"/>
              <a:ext cx="3962400" cy="1352700"/>
            </a:xfrm>
            <a:prstGeom prst="roundRect">
              <a:avLst>
                <a:gd fmla="val 7041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0" y="0"/>
              <a:ext cx="57300" cy="13527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 txBox="1"/>
            <p:nvPr/>
          </p:nvSpPr>
          <p:spPr>
            <a:xfrm>
              <a:off x="228600" y="171450"/>
              <a:ext cx="3543300" cy="1009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018" u="none" strike="noStrike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State &amp; Persistence</a:t>
              </a:r>
              <a:endParaRPr b="1" i="0" sz="1018" u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uk" sz="1203" u="none" strike="noStrike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Centralized store combined with AsyncStorage for dependable local data persistence, session management, and theme preferences.</a:t>
              </a:r>
              <a:endParaRPr b="1" i="0" sz="1018" u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4" name="Google Shape;194;p22"/>
          <p:cNvGrpSpPr/>
          <p:nvPr/>
        </p:nvGrpSpPr>
        <p:grpSpPr>
          <a:xfrm>
            <a:off x="4724400" y="3200400"/>
            <a:ext cx="3962400" cy="1352700"/>
            <a:chOff x="0" y="0"/>
            <a:chExt cx="3962400" cy="1352700"/>
          </a:xfrm>
        </p:grpSpPr>
        <p:sp>
          <p:nvSpPr>
            <p:cNvPr id="195" name="Google Shape;195;p22"/>
            <p:cNvSpPr/>
            <p:nvPr/>
          </p:nvSpPr>
          <p:spPr>
            <a:xfrm>
              <a:off x="0" y="0"/>
              <a:ext cx="3962400" cy="1352700"/>
            </a:xfrm>
            <a:prstGeom prst="roundRect">
              <a:avLst>
                <a:gd fmla="val 7041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>
              <a:off x="0" y="0"/>
              <a:ext cx="57300" cy="13527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 txBox="1"/>
            <p:nvPr/>
          </p:nvSpPr>
          <p:spPr>
            <a:xfrm>
              <a:off x="228600" y="171450"/>
              <a:ext cx="3543300" cy="1009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018" u="none" strike="noStrike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UI / UX Experience</a:t>
              </a:r>
              <a:endParaRPr b="1" i="0" sz="1018" u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uk" sz="1203" u="none" strike="noStrike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Supports Dark, Light, and System themes with instant switching, responsive adaptive layouts, and integrated toast alerts for user feedback.</a:t>
              </a:r>
              <a:endParaRPr b="1" i="0" sz="1018" u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03" name="Google Shape;203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457200" y="4191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3"/>
            <p:cNvSpPr txBox="1"/>
            <p:nvPr/>
          </p:nvSpPr>
          <p:spPr>
            <a:xfrm>
              <a:off x="457200" y="478155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uk" sz="1000">
                  <a:solidFill>
                    <a:srgbClr val="D6D3D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Hop &amp; Barley • React Native</a:t>
              </a:r>
              <a:endParaRPr/>
            </a:p>
          </p:txBody>
        </p:sp>
      </p:grpSp>
      <p:sp>
        <p:nvSpPr>
          <p:cNvPr id="206" name="Google Shape;206;p23"/>
          <p:cNvSpPr txBox="1"/>
          <p:nvPr/>
        </p:nvSpPr>
        <p:spPr>
          <a:xfrm>
            <a:off x="457200" y="552450"/>
            <a:ext cx="8229600" cy="9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Overcoming Complex State &amp; Performance Hurdles</a:t>
            </a:r>
            <a:endParaRPr b="1" i="0" sz="26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07" name="Google Shape;207;p23"/>
          <p:cNvGrpSpPr/>
          <p:nvPr/>
        </p:nvGrpSpPr>
        <p:grpSpPr>
          <a:xfrm>
            <a:off x="457200" y="1571625"/>
            <a:ext cx="2514600" cy="3000300"/>
            <a:chOff x="457200" y="1571625"/>
            <a:chExt cx="2514600" cy="3000300"/>
          </a:xfrm>
        </p:grpSpPr>
        <p:sp>
          <p:nvSpPr>
            <p:cNvPr id="208" name="Google Shape;208;p23"/>
            <p:cNvSpPr/>
            <p:nvPr/>
          </p:nvSpPr>
          <p:spPr>
            <a:xfrm>
              <a:off x="457200" y="1571625"/>
              <a:ext cx="2514600" cy="3000300"/>
            </a:xfrm>
            <a:prstGeom prst="roundRect">
              <a:avLst>
                <a:gd fmla="val 4545" name="adj"/>
              </a:avLst>
            </a:prstGeom>
            <a:solidFill>
              <a:srgbClr val="D6D3D1"/>
            </a:solidFill>
            <a:ln cap="flat" cmpd="sng" w="14300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647700" y="1781175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C19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" name="Google Shape;210;p23"/>
            <p:cNvGrpSpPr/>
            <p:nvPr/>
          </p:nvGrpSpPr>
          <p:grpSpPr>
            <a:xfrm>
              <a:off x="762000" y="1885950"/>
              <a:ext cx="204900" cy="166613"/>
              <a:chOff x="57150" y="47625"/>
              <a:chExt cx="204900" cy="166613"/>
            </a:xfrm>
          </p:grpSpPr>
          <p:sp>
            <p:nvSpPr>
              <p:cNvPr id="211" name="Google Shape;211;p23"/>
              <p:cNvSpPr/>
              <p:nvPr/>
            </p:nvSpPr>
            <p:spPr>
              <a:xfrm>
                <a:off x="57150" y="76200"/>
                <a:ext cx="1905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24000" y="0"/>
                    </a:lnTo>
                    <a:lnTo>
                      <a:pt x="39000" y="120000"/>
                    </a:lnTo>
                    <a:lnTo>
                      <a:pt x="108000" y="120000"/>
                    </a:lnTo>
                    <a:lnTo>
                      <a:pt x="120000" y="36000"/>
                    </a:lnTo>
                    <a:lnTo>
                      <a:pt x="33000" y="36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3"/>
              <p:cNvSpPr/>
              <p:nvPr/>
            </p:nvSpPr>
            <p:spPr>
              <a:xfrm>
                <a:off x="109538" y="185738"/>
                <a:ext cx="28500" cy="285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3"/>
              <p:cNvSpPr/>
              <p:nvPr/>
            </p:nvSpPr>
            <p:spPr>
              <a:xfrm>
                <a:off x="185738" y="185738"/>
                <a:ext cx="28500" cy="285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3"/>
              <p:cNvSpPr/>
              <p:nvPr/>
            </p:nvSpPr>
            <p:spPr>
              <a:xfrm>
                <a:off x="209550" y="47625"/>
                <a:ext cx="52500" cy="381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23146" y="0"/>
                      <a:pt x="45344" y="12643"/>
                      <a:pt x="61711" y="35147"/>
                    </a:cubicBezTo>
                    <a:cubicBezTo>
                      <a:pt x="78078" y="57652"/>
                      <a:pt x="87273" y="88174"/>
                      <a:pt x="87273" y="120000"/>
                    </a:cubicBezTo>
                    <a:moveTo>
                      <a:pt x="87273" y="120000"/>
                    </a:moveTo>
                    <a:lnTo>
                      <a:pt x="54545" y="75000"/>
                    </a:lnTo>
                    <a:moveTo>
                      <a:pt x="87273" y="120000"/>
                    </a:moveTo>
                    <a:lnTo>
                      <a:pt x="120000" y="75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F9F8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5" name="Google Shape;215;p23"/>
            <p:cNvSpPr txBox="1"/>
            <p:nvPr/>
          </p:nvSpPr>
          <p:spPr>
            <a:xfrm>
              <a:off x="647700" y="2352675"/>
              <a:ext cx="21336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018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State Management</a:t>
              </a:r>
              <a:endParaRPr b="1" i="0" sz="1018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uk" sz="1665">
                  <a:solidFill>
                    <a:srgbClr val="1C1917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Cart State Synchronization</a:t>
              </a:r>
              <a:endParaRPr b="1" i="0" sz="1018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0" lang="uk" sz="1203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Ensuring atomic updates across the catalog, detailed product views, and the cart list to maintain accurate inventory and pricing.</a:t>
              </a:r>
              <a:endParaRPr b="1" i="0" sz="1018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6" name="Google Shape;216;p23"/>
          <p:cNvGrpSpPr/>
          <p:nvPr/>
        </p:nvGrpSpPr>
        <p:grpSpPr>
          <a:xfrm>
            <a:off x="3314700" y="1571625"/>
            <a:ext cx="2514600" cy="3000300"/>
            <a:chOff x="3314700" y="1571625"/>
            <a:chExt cx="2514600" cy="3000300"/>
          </a:xfrm>
        </p:grpSpPr>
        <p:sp>
          <p:nvSpPr>
            <p:cNvPr id="217" name="Google Shape;217;p23"/>
            <p:cNvSpPr/>
            <p:nvPr/>
          </p:nvSpPr>
          <p:spPr>
            <a:xfrm>
              <a:off x="3314700" y="1571625"/>
              <a:ext cx="2514600" cy="3000300"/>
            </a:xfrm>
            <a:prstGeom prst="roundRect">
              <a:avLst>
                <a:gd fmla="val 4545" name="adj"/>
              </a:avLst>
            </a:prstGeom>
            <a:solidFill>
              <a:srgbClr val="D6D3D1"/>
            </a:solidFill>
            <a:ln cap="flat" cmpd="sng" w="14300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3"/>
            <p:cNvSpPr/>
            <p:nvPr/>
          </p:nvSpPr>
          <p:spPr>
            <a:xfrm>
              <a:off x="3505200" y="1781175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C19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23"/>
            <p:cNvGrpSpPr/>
            <p:nvPr/>
          </p:nvGrpSpPr>
          <p:grpSpPr>
            <a:xfrm>
              <a:off x="3619500" y="1900238"/>
              <a:ext cx="190500" cy="181050"/>
              <a:chOff x="57150" y="61913"/>
              <a:chExt cx="190500" cy="181050"/>
            </a:xfrm>
          </p:grpSpPr>
          <p:sp>
            <p:nvSpPr>
              <p:cNvPr id="220" name="Google Shape;220;p23"/>
              <p:cNvSpPr/>
              <p:nvPr/>
            </p:nvSpPr>
            <p:spPr>
              <a:xfrm>
                <a:off x="57150" y="85725"/>
                <a:ext cx="190500" cy="1335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9F8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3"/>
              <p:cNvSpPr/>
              <p:nvPr/>
            </p:nvSpPr>
            <p:spPr>
              <a:xfrm>
                <a:off x="80963" y="61913"/>
                <a:ext cx="47700" cy="47700"/>
              </a:xfrm>
              <a:prstGeom prst="ellipse">
                <a:avLst/>
              </a:prstGeom>
              <a:solidFill>
                <a:srgbClr val="D97706"/>
              </a:solidFill>
              <a:ln cap="flat" cmpd="sng" w="14300">
                <a:solidFill>
                  <a:srgbClr val="1C19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3"/>
              <p:cNvSpPr/>
              <p:nvPr/>
            </p:nvSpPr>
            <p:spPr>
              <a:xfrm>
                <a:off x="176213" y="128588"/>
                <a:ext cx="47700" cy="47700"/>
              </a:xfrm>
              <a:prstGeom prst="ellipse">
                <a:avLst/>
              </a:prstGeom>
              <a:solidFill>
                <a:srgbClr val="D97706"/>
              </a:solidFill>
              <a:ln cap="flat" cmpd="sng" w="14300">
                <a:solidFill>
                  <a:srgbClr val="1C19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3"/>
              <p:cNvSpPr/>
              <p:nvPr/>
            </p:nvSpPr>
            <p:spPr>
              <a:xfrm>
                <a:off x="109538" y="195263"/>
                <a:ext cx="47700" cy="47700"/>
              </a:xfrm>
              <a:prstGeom prst="ellipse">
                <a:avLst/>
              </a:prstGeom>
              <a:solidFill>
                <a:srgbClr val="D97706"/>
              </a:solidFill>
              <a:ln cap="flat" cmpd="sng" w="14300">
                <a:solidFill>
                  <a:srgbClr val="1C19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4" name="Google Shape;224;p23"/>
            <p:cNvSpPr txBox="1"/>
            <p:nvPr/>
          </p:nvSpPr>
          <p:spPr>
            <a:xfrm>
              <a:off x="3505200" y="2352675"/>
              <a:ext cx="21336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1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Performance</a:t>
              </a:r>
              <a:endParaRPr b="1" i="0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uk" sz="1800">
                  <a:solidFill>
                    <a:srgbClr val="1C1917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Filter &amp; Sort Pipeline</a:t>
              </a:r>
              <a:endParaRPr b="1" i="0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600"/>
                </a:spcAft>
                <a:buNone/>
              </a:pPr>
              <a:r>
                <a:rPr b="0" i="0" lang="uk" sz="130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Implementing low-latency, client-side query filtering that prevents unnecessary component re-renders during catalog browsing.</a:t>
              </a:r>
              <a:endParaRPr b="1" i="0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5" name="Google Shape;225;p23"/>
          <p:cNvGrpSpPr/>
          <p:nvPr/>
        </p:nvGrpSpPr>
        <p:grpSpPr>
          <a:xfrm>
            <a:off x="6172200" y="1571625"/>
            <a:ext cx="2514600" cy="3000300"/>
            <a:chOff x="6172200" y="1571625"/>
            <a:chExt cx="2514600" cy="3000300"/>
          </a:xfrm>
        </p:grpSpPr>
        <p:sp>
          <p:nvSpPr>
            <p:cNvPr id="226" name="Google Shape;226;p23"/>
            <p:cNvSpPr/>
            <p:nvPr/>
          </p:nvSpPr>
          <p:spPr>
            <a:xfrm>
              <a:off x="6172200" y="1571625"/>
              <a:ext cx="2514600" cy="3000300"/>
            </a:xfrm>
            <a:prstGeom prst="roundRect">
              <a:avLst>
                <a:gd fmla="val 4545" name="adj"/>
              </a:avLst>
            </a:prstGeom>
            <a:solidFill>
              <a:srgbClr val="D6D3D1"/>
            </a:solidFill>
            <a:ln cap="flat" cmpd="sng" w="14300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6362700" y="1781175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C19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8" name="Google Shape;228;p23"/>
            <p:cNvGrpSpPr/>
            <p:nvPr/>
          </p:nvGrpSpPr>
          <p:grpSpPr>
            <a:xfrm>
              <a:off x="6477000" y="1876425"/>
              <a:ext cx="190500" cy="190500"/>
              <a:chOff x="57150" y="38100"/>
              <a:chExt cx="190500" cy="190500"/>
            </a:xfrm>
          </p:grpSpPr>
          <p:sp>
            <p:nvSpPr>
              <p:cNvPr id="229" name="Google Shape;229;p23"/>
              <p:cNvSpPr/>
              <p:nvPr/>
            </p:nvSpPr>
            <p:spPr>
              <a:xfrm>
                <a:off x="57150" y="76200"/>
                <a:ext cx="190500" cy="152400"/>
              </a:xfrm>
              <a:prstGeom prst="roundRect">
                <a:avLst>
                  <a:gd fmla="val 1875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F9F8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3"/>
              <p:cNvSpPr/>
              <p:nvPr/>
            </p:nvSpPr>
            <p:spPr>
              <a:xfrm>
                <a:off x="90488" y="138113"/>
                <a:ext cx="28500" cy="285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3"/>
              <p:cNvSpPr/>
              <p:nvPr/>
            </p:nvSpPr>
            <p:spPr>
              <a:xfrm>
                <a:off x="138113" y="138113"/>
                <a:ext cx="28500" cy="285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3"/>
              <p:cNvSpPr/>
              <p:nvPr/>
            </p:nvSpPr>
            <p:spPr>
              <a:xfrm>
                <a:off x="185738" y="138113"/>
                <a:ext cx="28500" cy="285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3"/>
              <p:cNvSpPr/>
              <p:nvPr/>
            </p:nvSpPr>
            <p:spPr>
              <a:xfrm>
                <a:off x="152400" y="38100"/>
                <a:ext cx="0" cy="381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4" name="Google Shape;234;p23"/>
            <p:cNvSpPr txBox="1"/>
            <p:nvPr/>
          </p:nvSpPr>
          <p:spPr>
            <a:xfrm>
              <a:off x="6362700" y="2352675"/>
              <a:ext cx="21336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1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UX &amp; Auth</a:t>
              </a:r>
              <a:endParaRPr b="1" i="0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uk" sz="1800">
                  <a:solidFill>
                    <a:srgbClr val="1C1917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OTP Flow</a:t>
              </a:r>
              <a:endParaRPr b="1" i="0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600"/>
                </a:spcAft>
                <a:buNone/>
              </a:pPr>
              <a:r>
                <a:rPr b="0" i="0" lang="uk" sz="1300">
                  <a:solidFill>
                    <a:srgbClr val="44403C"/>
                  </a:solidFill>
                  <a:latin typeface="Inter"/>
                  <a:ea typeface="Inter"/>
                  <a:cs typeface="Inter"/>
                  <a:sym typeface="Inter"/>
                </a:rPr>
                <a:t>Designing an accessible pin-code input system with smooth auto-focus transitions and robust resend timer logic.</a:t>
              </a:r>
              <a:endParaRPr b="1" i="0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40" name="Google Shape;240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3157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457200" y="4191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 txBox="1"/>
            <p:nvPr/>
          </p:nvSpPr>
          <p:spPr>
            <a:xfrm>
              <a:off x="457200" y="480060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uk" sz="1000">
                  <a:solidFill>
                    <a:srgbClr val="D6D3D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Hop &amp; Barley • React Native</a:t>
              </a:r>
              <a:endParaRPr/>
            </a:p>
          </p:txBody>
        </p:sp>
      </p:grpSp>
      <p:sp>
        <p:nvSpPr>
          <p:cNvPr id="243" name="Google Shape;243;p24"/>
          <p:cNvSpPr txBox="1"/>
          <p:nvPr/>
        </p:nvSpPr>
        <p:spPr>
          <a:xfrm>
            <a:off x="457200" y="571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uk" sz="2600" u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Expanding the Hop &amp; Barley Ecosystem</a:t>
            </a:r>
            <a:endParaRPr b="1" i="0" sz="2600" u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44" name="Google Shape;244;p24"/>
          <p:cNvGrpSpPr/>
          <p:nvPr/>
        </p:nvGrpSpPr>
        <p:grpSpPr>
          <a:xfrm>
            <a:off x="457200" y="1409700"/>
            <a:ext cx="8229600" cy="2147888"/>
            <a:chOff x="457200" y="76200"/>
            <a:chExt cx="8229600" cy="2147888"/>
          </a:xfrm>
        </p:grpSpPr>
        <p:cxnSp>
          <p:nvCxnSpPr>
            <p:cNvPr id="245" name="Google Shape;245;p24"/>
            <p:cNvCxnSpPr/>
            <p:nvPr/>
          </p:nvCxnSpPr>
          <p:spPr>
            <a:xfrm>
              <a:off x="1143000" y="190500"/>
              <a:ext cx="68580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D6D3D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6" name="Google Shape;246;p24"/>
            <p:cNvSpPr/>
            <p:nvPr/>
          </p:nvSpPr>
          <p:spPr>
            <a:xfrm>
              <a:off x="1028700" y="76200"/>
              <a:ext cx="228600" cy="2286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4"/>
            <p:cNvSpPr/>
            <p:nvPr/>
          </p:nvSpPr>
          <p:spPr>
            <a:xfrm>
              <a:off x="1095375" y="142875"/>
              <a:ext cx="95400" cy="9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4"/>
            <p:cNvSpPr txBox="1"/>
            <p:nvPr/>
          </p:nvSpPr>
          <p:spPr>
            <a:xfrm>
              <a:off x="457200" y="495300"/>
              <a:ext cx="23337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100" u="none" strike="noStrike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Phase 01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uk" sz="1500" u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In-App Brewing Calculator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i="0" lang="uk" sz="1300" u="none" strike="noStrike">
                  <a:solidFill>
                    <a:srgbClr val="D6D3D1"/>
                  </a:solidFill>
                  <a:latin typeface="Inter"/>
                  <a:ea typeface="Inter"/>
                  <a:cs typeface="Inter"/>
                  <a:sym typeface="Inter"/>
                </a:rPr>
                <a:t>Upcoming features for OG/FG, ABV, and IBU calculations directly within the application.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4457700" y="76200"/>
              <a:ext cx="228600" cy="2286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4524375" y="142875"/>
              <a:ext cx="95400" cy="9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4"/>
            <p:cNvSpPr txBox="1"/>
            <p:nvPr/>
          </p:nvSpPr>
          <p:spPr>
            <a:xfrm>
              <a:off x="3212350" y="509575"/>
              <a:ext cx="23337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100" u="none" strike="noStrike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Phase 02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uk" sz="1500" u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Community &amp; Custom Recipes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i="0" lang="uk" sz="1300" u="none" strike="noStrike">
                  <a:solidFill>
                    <a:srgbClr val="D6D3D1"/>
                  </a:solidFill>
                  <a:latin typeface="Inter"/>
                  <a:ea typeface="Inter"/>
                  <a:cs typeface="Inter"/>
                  <a:sym typeface="Inter"/>
                </a:rPr>
                <a:t>Enabling user-created recipe saving and sharing to foster a community of brewers.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7886700" y="76200"/>
              <a:ext cx="228600" cy="228600"/>
            </a:xfrm>
            <a:prstGeom prst="ellipse">
              <a:avLst/>
            </a:prstGeom>
            <a:solidFill>
              <a:srgbClr val="31572C"/>
            </a:solidFill>
            <a:ln cap="flat" cmpd="sng" w="381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7962900" y="152400"/>
              <a:ext cx="76200" cy="762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4"/>
            <p:cNvSpPr txBox="1"/>
            <p:nvPr/>
          </p:nvSpPr>
          <p:spPr>
            <a:xfrm>
              <a:off x="6353100" y="509588"/>
              <a:ext cx="23337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100" u="none" strike="noStrike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Phase 03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uk" sz="1500" u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Payment Gateway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0" lang="uk" sz="1300" u="none" strike="noStrike">
                  <a:solidFill>
                    <a:srgbClr val="D6D3D1"/>
                  </a:solidFill>
                  <a:latin typeface="Inter"/>
                  <a:ea typeface="Inter"/>
                  <a:cs typeface="Inter"/>
                  <a:sym typeface="Inter"/>
                </a:rPr>
                <a:t>Planned integration with Stripe, Apple Pay, and Google Pay for seamless transactions.</a:t>
              </a:r>
              <a:endParaRPr b="1" i="0" sz="110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5" name="Google Shape;255;p24"/>
          <p:cNvGrpSpPr/>
          <p:nvPr/>
        </p:nvGrpSpPr>
        <p:grpSpPr>
          <a:xfrm>
            <a:off x="457200" y="3762375"/>
            <a:ext cx="8229600" cy="800100"/>
            <a:chOff x="0" y="0"/>
            <a:chExt cx="8229600" cy="800100"/>
          </a:xfrm>
        </p:grpSpPr>
        <p:sp>
          <p:nvSpPr>
            <p:cNvPr id="256" name="Google Shape;256;p24"/>
            <p:cNvSpPr/>
            <p:nvPr/>
          </p:nvSpPr>
          <p:spPr>
            <a:xfrm>
              <a:off x="0" y="0"/>
              <a:ext cx="8229600" cy="800100"/>
            </a:xfrm>
            <a:prstGeom prst="roundRect">
              <a:avLst>
                <a:gd fmla="val 14285" name="adj"/>
              </a:avLst>
            </a:prstGeom>
            <a:solidFill>
              <a:srgbClr val="D6D3D1"/>
            </a:solidFill>
            <a:ln cap="flat" cmpd="sng" w="9525">
              <a:solidFill>
                <a:srgbClr val="EAE5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0" y="0"/>
              <a:ext cx="57300" cy="8001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4"/>
            <p:cNvSpPr txBox="1"/>
            <p:nvPr/>
          </p:nvSpPr>
          <p:spPr>
            <a:xfrm>
              <a:off x="266700" y="161500"/>
              <a:ext cx="7696200" cy="467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uk" sz="1480" u="none" strike="noStrike">
                  <a:solidFill>
                    <a:srgbClr val="1C19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Thank you for your time.</a:t>
              </a:r>
              <a:endParaRPr b="0" i="0" sz="1480" u="none" strike="noStrike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t/>
              </a:r>
              <a:endParaRPr b="0" i="0" sz="1203" u="none" strike="noStrike">
                <a:solidFill>
                  <a:srgbClr val="1C191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